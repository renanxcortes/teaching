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6" r:id="rId9"/>
    <p:sldId id="265" r:id="rId10"/>
    <p:sldId id="267" r:id="rId11"/>
    <p:sldId id="268" r:id="rId12"/>
    <p:sldId id="276" r:id="rId13"/>
    <p:sldId id="277" r:id="rId14"/>
    <p:sldId id="278" r:id="rId15"/>
    <p:sldId id="274" r:id="rId16"/>
    <p:sldId id="275" r:id="rId17"/>
    <p:sldId id="269" r:id="rId18"/>
    <p:sldId id="270" r:id="rId19"/>
    <p:sldId id="280" r:id="rId20"/>
    <p:sldId id="281" r:id="rId21"/>
    <p:sldId id="282" r:id="rId22"/>
    <p:sldId id="283" r:id="rId23"/>
    <p:sldId id="271" r:id="rId24"/>
    <p:sldId id="284" r:id="rId25"/>
    <p:sldId id="287" r:id="rId26"/>
    <p:sldId id="286" r:id="rId2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2140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8209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2085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1518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1090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926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2888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54328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1441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5116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610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5373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56918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112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79886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7413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73141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7091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72392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4539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7663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92780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04198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967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MAT02201 – Métodos Estatísticos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826455" y="4429919"/>
            <a:ext cx="85390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Introdução à Estatística e Análise Exploratória de Dados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4992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Cronograma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225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Alfabetização científica.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População e amostra.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Classificação de variáveis (tipologia): 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nominal, ordinal; 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discreta e contínua.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Nível de mensuração: nominal, ordinal, intervalar e de razão.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Coleta e representação de dados (Organização): tabela e tipos de gráficos (linha, série temporal, coluna, barra e gráfico de setor/pizza).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Distribuição de frequências: histograma e Box-</a:t>
            </a:r>
            <a:r>
              <a:rPr lang="pt-BR" sz="2000" b="1" dirty="0" err="1"/>
              <a:t>Plot</a:t>
            </a:r>
            <a:r>
              <a:rPr lang="pt-BR" sz="2000" b="1" dirty="0"/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9719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Gerais sobre estatística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2509841"/>
            <a:ext cx="10310191" cy="192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Estatística: ciência que coleta, organiza, analisa e interpreta dados.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Apoia a tomada de decisões em situações de incerteza.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Muito utilizada em experimentos agrícolas e zootécnicos.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produtividade de culturas, ganho de peso animal.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823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Alfabetização Científica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2456260"/>
            <a:ext cx="10310191" cy="2404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Capacidade de interpretar dados e resultados científicos.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Compreender gráficos, tabelas e conclusões estatísticas.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Fundamental para leitura de artigos científicos em Agronomia e Zootecnia.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Evita interpretações equivocadas de resultados experimentais.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1898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População e Amostra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48606"/>
            <a:ext cx="10310191" cy="3340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População: conjunto total de indivíduos ou observações de interesse.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Amostra: subconjunto representativo da população.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Intuição: “Um chef de cozinha prova seu prato com uma colherada antes de servir toda a panela”.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 de população: todo o rebanho bovino de uma fazenda.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 de amostra: 30 animais selecionados para avaliação.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opulação/Amostra - Um olhar Matemático">
            <a:extLst>
              <a:ext uri="{FF2B5EF4-FFF2-40B4-BE49-F238E27FC236}">
                <a16:creationId xmlns:a16="http://schemas.microsoft.com/office/drawing/2014/main" id="{3AF06A5C-D23B-2668-9192-9EBD39416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521" y="4039193"/>
            <a:ext cx="6066958" cy="2678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B75BA797-89E6-A590-E6E0-1930AE23BE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3469" y="2767366"/>
            <a:ext cx="1876821" cy="208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213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9503125-E213-E8F6-DAF3-BEC6F775BC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2679" y="1230457"/>
            <a:ext cx="7106642" cy="51156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E4A74DC5-A696-506E-884C-C89CEEA7D8F7}"/>
              </a:ext>
            </a:extLst>
          </p:cNvPr>
          <p:cNvSpPr txBox="1"/>
          <p:nvPr/>
        </p:nvSpPr>
        <p:spPr>
          <a:xfrm>
            <a:off x="697525" y="6545893"/>
            <a:ext cx="95284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https://www.ufrgs.br/probabilidade-estatistica/slides/slides_1/1-1_Introducao.pdf</a:t>
            </a:r>
          </a:p>
        </p:txBody>
      </p:sp>
    </p:spTree>
    <p:extLst>
      <p:ext uri="{BB962C8B-B14F-4D97-AF65-F5344CB8AC3E}">
        <p14:creationId xmlns:p14="http://schemas.microsoft.com/office/powerpoint/2010/main" val="1495373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Qualitativas/Categóricas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3F14000-383F-850F-E6AA-F5007930D551}"/>
              </a:ext>
            </a:extLst>
          </p:cNvPr>
          <p:cNvSpPr txBox="1"/>
          <p:nvPr/>
        </p:nvSpPr>
        <p:spPr>
          <a:xfrm>
            <a:off x="971472" y="2072894"/>
            <a:ext cx="9861695" cy="3827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Nominal: não possui ordem/hierarquia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raça animal 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Raça A, Raça B, Raça C, etc.)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Ordinal: possui ordem/ranking/escala lógica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estágios de crescimento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Pequeno, Médio, Grande)</a:t>
            </a:r>
          </a:p>
        </p:txBody>
      </p:sp>
      <p:pic>
        <p:nvPicPr>
          <p:cNvPr id="2054" name="Picture 6" descr="RECONHECIMENTO DE NOVAS RAÇAS DEPENDE DA QUANTIDADE DE ANIMAIS EXISTENTES E  VARIA ENTRE VALIDAÇÕES – Portal Cães e Gatos">
            <a:extLst>
              <a:ext uri="{FF2B5EF4-FFF2-40B4-BE49-F238E27FC236}">
                <a16:creationId xmlns:a16="http://schemas.microsoft.com/office/drawing/2014/main" id="{9BBBB796-11B1-9E9B-9024-C023ED277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0908" y="1781061"/>
            <a:ext cx="3293190" cy="2084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Fases Do Crescimento Da Vaca. Exploração Leiteira. Vaca De Criação.  Produção De Carne Bovina. Criação De Gado. Progressão Animada Ilustração  Stock - Ilustração de carne, projeto: 152641051">
            <a:extLst>
              <a:ext uri="{FF2B5EF4-FFF2-40B4-BE49-F238E27FC236}">
                <a16:creationId xmlns:a16="http://schemas.microsoft.com/office/drawing/2014/main" id="{750C220B-DEEE-CE57-43CB-5AB737C5E7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7975" y="4516167"/>
            <a:ext cx="5046846" cy="1551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O gado 🐂 de corte no Brasil é composto por diversas raças, cada uma com  características próprias que influenciam diretamente na produção de carne e  na pecuária como um todo. Entre as">
            <a:extLst>
              <a:ext uri="{FF2B5EF4-FFF2-40B4-BE49-F238E27FC236}">
                <a16:creationId xmlns:a16="http://schemas.microsoft.com/office/drawing/2014/main" id="{04060264-FEF9-2D28-9DF9-52482BDA4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6003" y="1451541"/>
            <a:ext cx="1914525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2877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Qualitativas/Categóricas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3F14000-383F-850F-E6AA-F5007930D551}"/>
              </a:ext>
            </a:extLst>
          </p:cNvPr>
          <p:cNvSpPr txBox="1"/>
          <p:nvPr/>
        </p:nvSpPr>
        <p:spPr>
          <a:xfrm>
            <a:off x="1103819" y="1349600"/>
            <a:ext cx="10588509" cy="4996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Nominais: outros Exemplos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Tipo de cultura: Soja, Milho, Cana-de-açúcar, Café, Algodão.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Raça de gado: Nelore, Angus, Holandesa, Jersey, Brangus.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Tipo de solo: Argiloso, Arenoso, Franco.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Sistema de produção: Intensivo, Extensivo, Orgânico, Convencional.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Marca de fertilizante ou defensivo agrícola.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Ordinais: outros exemplos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Intensidade de infestação de pragas: Baixa, Média, Alta.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Classificação da qualidade do fruto: Primeira, Segunda, Descarte.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Nível de maturação do fruto: Verde, Maduro, Passado.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Escore de condição corporal (bovinos): Magro, Ideal, Obeso.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Nível de severidade de doença (</a:t>
            </a:r>
            <a:r>
              <a:rPr lang="pt-BR" sz="1600" b="1" dirty="0" err="1"/>
              <a:t>ex</a:t>
            </a:r>
            <a:r>
              <a:rPr lang="pt-BR" sz="1600" b="1" dirty="0"/>
              <a:t>: ferrugem): Leve, Moderada, Severa. 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33916402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Quantitativas/Numéricas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1103819" y="2240357"/>
            <a:ext cx="9861695" cy="3827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Discretas: valores inteiros contáveis.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número de leitões por parto 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1, 2, 3, 4, ..., 14, ...)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Contínuas: valores em escala real.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peso de animais, altura de plantas.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12.4kg, 14.85kg, etc.)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ACCS - Associação Catarinense de Criadores de Suínos">
            <a:extLst>
              <a:ext uri="{FF2B5EF4-FFF2-40B4-BE49-F238E27FC236}">
                <a16:creationId xmlns:a16="http://schemas.microsoft.com/office/drawing/2014/main" id="{4E6A8334-909C-5345-FD38-6DE6C7161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5703" y="1427235"/>
            <a:ext cx="3350837" cy="2513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Medir a Altura De Plantas De Estufa Foto de Stock - Imagem de horticultura,  caucasiano: 13189128">
            <a:extLst>
              <a:ext uri="{FF2B5EF4-FFF2-40B4-BE49-F238E27FC236}">
                <a16:creationId xmlns:a16="http://schemas.microsoft.com/office/drawing/2014/main" id="{A4619851-0E89-7971-65B8-8C06288BD4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5703" y="4379200"/>
            <a:ext cx="3350837" cy="2232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7923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Quantitativas/Numéricas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4932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Discretas: outros Exemplos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Número de frutos por planta.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Quantidade de animais por piquete.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Número de </a:t>
            </a:r>
            <a:r>
              <a:rPr lang="pt-BR" sz="1600" b="1" dirty="0" err="1"/>
              <a:t>perfilhos</a:t>
            </a:r>
            <a:r>
              <a:rPr lang="pt-BR" sz="1600" b="1" dirty="0"/>
              <a:t> por planta de trigo.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Quantidade de tratores na fazenda.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Número de ovos produzidos por galinha por dia. 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Contínuas: outros exemplos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Produtividade da cultura: Toneladas por hectare (t/ha) ou Sacas por hectare (</a:t>
            </a:r>
            <a:r>
              <a:rPr lang="pt-BR" sz="1600" b="1" dirty="0" err="1"/>
              <a:t>sc</a:t>
            </a:r>
            <a:r>
              <a:rPr lang="pt-BR" sz="1600" b="1" dirty="0"/>
              <a:t>/ha).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Peso do animal: Quilogramas (kg).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Índice Pluviométrico (chuva): Milímetros (mm).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Teor de umidade do grão: Porcentagem (%).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Temperatura ambiente no aviário: Graus Celsius (</a:t>
            </a:r>
            <a:r>
              <a:rPr lang="pt-BR" sz="1600" b="1" baseline="30000" dirty="0" err="1"/>
              <a:t>o</a:t>
            </a:r>
            <a:r>
              <a:rPr lang="pt-BR" sz="1600" b="1" dirty="0" err="1"/>
              <a:t>C</a:t>
            </a:r>
            <a:r>
              <a:rPr lang="pt-BR" sz="1600" b="1" dirty="0"/>
              <a:t>). 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134322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19843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803536" y="2252092"/>
            <a:ext cx="10753401" cy="2843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Porque “níveis de mensuração” são importantes?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Eles são fundamentais porque determinam </a:t>
            </a:r>
            <a:r>
              <a:rPr lang="pt-BR" sz="2400" b="1" dirty="0">
                <a:solidFill>
                  <a:srgbClr val="FF0000"/>
                </a:solidFill>
              </a:rPr>
              <a:t>quais análises estatísticas podem ser realizadas com segurança e como os dados devem ser interpretados/analisados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517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62812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651844" y="1710415"/>
            <a:ext cx="10888312" cy="3895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nominal: </a:t>
            </a:r>
            <a:r>
              <a:rPr lang="pt-BR" dirty="0"/>
              <a:t>apenas nomeiam ou rotulam variáveis em categorias, sem qualquer ordem ou hierarquia entre elas. 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t-BR" b="1" dirty="0"/>
              <a:t>Características:</a:t>
            </a:r>
            <a:r>
              <a:rPr lang="pt-BR" dirty="0"/>
              <a:t> Apenas rotulação. Não pode ser ordenado, somado ou subtraído.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t-BR" b="1" dirty="0"/>
              <a:t>Exemplos: </a:t>
            </a:r>
            <a:r>
              <a:rPr lang="pt-BR" dirty="0"/>
              <a:t>raça de gado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t-BR" b="1" dirty="0"/>
              <a:t>O que fazer: </a:t>
            </a:r>
            <a:r>
              <a:rPr lang="pt-BR" dirty="0"/>
              <a:t>Frequência (contagem) e moda. 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b="1" dirty="0">
              <a:solidFill>
                <a:srgbClr val="FF0000"/>
              </a:solidFill>
            </a:endParaRPr>
          </a:p>
          <a:p>
            <a:pPr marL="342900" indent="-3429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ordinal: </a:t>
            </a:r>
            <a:r>
              <a:rPr lang="pt-BR" dirty="0"/>
              <a:t>possuem uma ordem ou classificação lógica, mas a diferença numérica entre eles não é mensurável ou consistente. 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Características: </a:t>
            </a:r>
            <a:r>
              <a:rPr lang="pt-BR" dirty="0"/>
              <a:t>Categorização + Ordem. Você sabe que 'A' é maior que 'B', mas não quanto a mais.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Exemplos: </a:t>
            </a:r>
            <a:r>
              <a:rPr lang="pt-BR" dirty="0"/>
              <a:t>tamanho de touro categorizado em pequeno, médio e grande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O que fazer</a:t>
            </a:r>
            <a:r>
              <a:rPr lang="pt-BR" dirty="0"/>
              <a:t>: Mediana e frequência.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ED500D4-496C-7599-2503-D51C1F16CA97}"/>
              </a:ext>
            </a:extLst>
          </p:cNvPr>
          <p:cNvSpPr txBox="1"/>
          <p:nvPr/>
        </p:nvSpPr>
        <p:spPr>
          <a:xfrm>
            <a:off x="1379095" y="5922319"/>
            <a:ext cx="9218951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i="1" dirty="0"/>
              <a:t>Pergunta: Faz sentido eu calcular uma média em uma base de dados em que estão codificados os números “1 – Angus” e “2 – </a:t>
            </a:r>
            <a:r>
              <a:rPr lang="pt-BR" i="1" dirty="0" err="1"/>
              <a:t>Hereford</a:t>
            </a:r>
            <a:r>
              <a:rPr lang="pt-BR" i="1" dirty="0"/>
              <a:t>”? E se fosse “1 – Pequeno” e “2 – Médio”?</a:t>
            </a:r>
          </a:p>
        </p:txBody>
      </p:sp>
    </p:spTree>
    <p:extLst>
      <p:ext uri="{BB962C8B-B14F-4D97-AF65-F5344CB8AC3E}">
        <p14:creationId xmlns:p14="http://schemas.microsoft.com/office/powerpoint/2010/main" val="3446963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4458" y="161686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651844" y="1552679"/>
            <a:ext cx="10888312" cy="4211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intervalar: </a:t>
            </a:r>
            <a:r>
              <a:rPr lang="pt-BR" dirty="0"/>
              <a:t>Dados numéricos onde a ordem importa e a diferença (intervalo) entre os valores é constante e mensurável, mas não existe um zero absoluto (ou seja, o zero não significa ausência total da variável). </a:t>
            </a:r>
          </a:p>
          <a:p>
            <a:pPr marL="742950" lvl="1" indent="-28575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Características: </a:t>
            </a:r>
            <a:r>
              <a:rPr lang="pt-BR" dirty="0"/>
              <a:t>Categoria + Ordem + Diferença igual.</a:t>
            </a:r>
          </a:p>
          <a:p>
            <a:pPr marL="742950" lvl="1" indent="-28575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Exemplos: </a:t>
            </a:r>
            <a:r>
              <a:rPr lang="pt-BR" dirty="0"/>
              <a:t>Temperatura em Celsius ou Fahrenheit (0°C não significa "ausência de temperatura"), QI, ano de nascimento.</a:t>
            </a:r>
          </a:p>
          <a:p>
            <a:pPr marL="742950" lvl="1" indent="-28575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O que fazer: </a:t>
            </a:r>
            <a:r>
              <a:rPr lang="pt-BR" dirty="0"/>
              <a:t>Adição/Subtração, média, desvio padrão.</a:t>
            </a:r>
          </a:p>
          <a:p>
            <a:pPr marL="342900" indent="-3429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b="1" dirty="0"/>
          </a:p>
          <a:p>
            <a:pPr marL="342900" indent="-3429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razão: </a:t>
            </a:r>
            <a:r>
              <a:rPr lang="pt-BR" dirty="0"/>
              <a:t>O nível mais alto de medição. Possui todas as características do nível intervalar, mas com um zero absoluto significativo, o que permite calcular razões (proporções/multiplicação). 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Características: </a:t>
            </a:r>
            <a:r>
              <a:rPr lang="pt-BR" dirty="0"/>
              <a:t>Categoria + Ordem + Diferença igual + Zero absoluto (0 significa "nada").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Exemplos: </a:t>
            </a:r>
            <a:r>
              <a:rPr lang="pt-BR" dirty="0"/>
              <a:t>Altura, peso, idade, distância.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O que fazer: </a:t>
            </a:r>
            <a:r>
              <a:rPr lang="pt-BR" dirty="0"/>
              <a:t>Todas as operações matemáticas (somar, subtrair, multiplicar, dividir), coeficiente de variação. </a:t>
            </a:r>
          </a:p>
        </p:txBody>
      </p:sp>
    </p:spTree>
    <p:extLst>
      <p:ext uri="{BB962C8B-B14F-4D97-AF65-F5344CB8AC3E}">
        <p14:creationId xmlns:p14="http://schemas.microsoft.com/office/powerpoint/2010/main" val="3536810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2822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D61B3D-F04A-A328-6D7E-B6112CFC85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4712" y="2070784"/>
            <a:ext cx="7702575" cy="31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335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56513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Hm... Ok, mas ainda não ficou clara o porque da distinção entre “intervalar” e “razão”.	</a:t>
            </a:r>
            <a:endParaRPr lang="pt-BR" sz="2400" b="1" dirty="0">
              <a:solidFill>
                <a:srgbClr val="FF000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58B68E6-C144-5060-CA7D-7C17FE22680B}"/>
              </a:ext>
            </a:extLst>
          </p:cNvPr>
          <p:cNvSpPr txBox="1"/>
          <p:nvPr/>
        </p:nvSpPr>
        <p:spPr>
          <a:xfrm>
            <a:off x="939383" y="6430150"/>
            <a:ext cx="103132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i="1" dirty="0"/>
              <a:t>Retirado de https://www.reddit.com/r/statistics/comments/mh1blo/q_what_is_the_difference_between_interval_and/?tl=pt-br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1F18501-07D0-A985-61D0-917B8E1DC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" y="3429000"/>
            <a:ext cx="5603173" cy="124419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D7DA205-FD4F-B71E-2F8B-352FF37353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472" y="2058546"/>
            <a:ext cx="5377847" cy="432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54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56513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Hm... Ok, mas ainda não ficou clara o porque da distinção entre “intervalar” e “razão”.	</a:t>
            </a:r>
            <a:endParaRPr lang="pt-BR" sz="2400" b="1" dirty="0">
              <a:solidFill>
                <a:srgbClr val="FF000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58B68E6-C144-5060-CA7D-7C17FE22680B}"/>
              </a:ext>
            </a:extLst>
          </p:cNvPr>
          <p:cNvSpPr txBox="1"/>
          <p:nvPr/>
        </p:nvSpPr>
        <p:spPr>
          <a:xfrm>
            <a:off x="939383" y="6430150"/>
            <a:ext cx="103132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i="1" dirty="0"/>
              <a:t>Retirado de https://www.reddit.com/r/statistics/comments/mh1blo/q_what_is_the_difference_between_interval_and/?tl=pt-br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1F18501-07D0-A985-61D0-917B8E1DC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" y="3429000"/>
            <a:ext cx="5603173" cy="1244196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998EFE2-B89E-DC76-D434-88376055E0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999" y="2817103"/>
            <a:ext cx="6039693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482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Tabela</a:t>
            </a:r>
            <a:endParaRPr lang="pt-BR" sz="1400" b="1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387B2521-0873-2B44-23CB-06F158F17A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3167" y="2317600"/>
            <a:ext cx="8400711" cy="2854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539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1" name="Imagem 10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61149965-3367-6BC9-6804-26C7F2A9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687" y="2361206"/>
            <a:ext cx="6375824" cy="398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84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AEF69BF5-D37C-4474-57A7-A57534FDD6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2145313"/>
            <a:ext cx="7315215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088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0CEA26AE-0683-B67F-BC37-373D3160D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2145313"/>
            <a:ext cx="7315215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466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B1CCA7E3-218E-F179-62AE-8328EF43C4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2145313"/>
            <a:ext cx="7315215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95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2" name="Imagem 11" descr="Gráfico, Gráfico de pizza&#10;&#10;O conteúdo gerado por IA pode estar incorreto.">
            <a:extLst>
              <a:ext uri="{FF2B5EF4-FFF2-40B4-BE49-F238E27FC236}">
                <a16:creationId xmlns:a16="http://schemas.microsoft.com/office/drawing/2014/main" id="{65B2CA1E-D00D-E753-7DDF-737EC812D2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136" y="2094878"/>
            <a:ext cx="4991727" cy="499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87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Histograma</a:t>
            </a:r>
            <a:endParaRPr lang="pt-BR" sz="1400" b="1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B9F02F1-AFED-6149-90A3-CE7F1933A8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8074" y="2317600"/>
            <a:ext cx="5915851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846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Histograma com outlier</a:t>
            </a:r>
            <a:endParaRPr lang="pt-BR" sz="1400" b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1539A83-FA7C-7AD1-70FB-ECE4DD84D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36" y="2864969"/>
            <a:ext cx="5553154" cy="2421242"/>
          </a:xfrm>
          <a:prstGeom prst="rect">
            <a:avLst/>
          </a:prstGeom>
        </p:spPr>
      </p:pic>
      <p:sp>
        <p:nvSpPr>
          <p:cNvPr id="10" name="Seta: para a Direita 9">
            <a:extLst>
              <a:ext uri="{FF2B5EF4-FFF2-40B4-BE49-F238E27FC236}">
                <a16:creationId xmlns:a16="http://schemas.microsoft.com/office/drawing/2014/main" id="{2B1F81A8-3F77-3D25-0D91-989260BBD806}"/>
              </a:ext>
            </a:extLst>
          </p:cNvPr>
          <p:cNvSpPr/>
          <p:nvPr/>
        </p:nvSpPr>
        <p:spPr>
          <a:xfrm rot="1674956">
            <a:off x="2998033" y="4602809"/>
            <a:ext cx="614597" cy="58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CBE2905-AC6C-0446-21C0-36CE2B864BA5}"/>
              </a:ext>
            </a:extLst>
          </p:cNvPr>
          <p:cNvSpPr txBox="1"/>
          <p:nvPr/>
        </p:nvSpPr>
        <p:spPr>
          <a:xfrm>
            <a:off x="2168873" y="4308546"/>
            <a:ext cx="1049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Outlier!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40652A95-1D6F-2C91-CA10-BBD91EE6FC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343" y="2316597"/>
            <a:ext cx="4502028" cy="310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288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 err="1"/>
              <a:t>Boxplot</a:t>
            </a:r>
            <a:r>
              <a:rPr lang="pt-BR" sz="2400" b="1" dirty="0"/>
              <a:t> com outlier</a:t>
            </a:r>
            <a:endParaRPr lang="pt-BR" sz="1400" b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0AE4C95-B2E5-AD75-C8DB-CA9623F29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522" y="1757744"/>
            <a:ext cx="5487166" cy="4744112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501C3D0-1DF0-41AE-C64F-7EABA969E7F3}"/>
              </a:ext>
            </a:extLst>
          </p:cNvPr>
          <p:cNvSpPr txBox="1"/>
          <p:nvPr/>
        </p:nvSpPr>
        <p:spPr>
          <a:xfrm>
            <a:off x="461729" y="3521592"/>
            <a:ext cx="3702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Mas antes... O que é um </a:t>
            </a:r>
            <a:r>
              <a:rPr lang="pt-BR" b="1" dirty="0" err="1"/>
              <a:t>boxplot</a:t>
            </a:r>
            <a:r>
              <a:rPr lang="pt-BR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2374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 err="1"/>
              <a:t>Boxplot</a:t>
            </a:r>
            <a:r>
              <a:rPr lang="pt-BR" sz="2400" b="1" dirty="0"/>
              <a:t> com outlier</a:t>
            </a:r>
            <a:endParaRPr lang="pt-BR" sz="1400" b="1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6B5210F-1605-9FC7-8E4A-D66BA6A8C8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7574" y="2183090"/>
            <a:ext cx="6096851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026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7356</TotalTime>
  <Words>1427</Words>
  <Application>Microsoft Office PowerPoint</Application>
  <PresentationFormat>Widescreen</PresentationFormat>
  <Paragraphs>154</Paragraphs>
  <Slides>26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3" baseType="lpstr">
      <vt:lpstr>Arial</vt:lpstr>
      <vt:lpstr>Arial Nova</vt:lpstr>
      <vt:lpstr>Calibri</vt:lpstr>
      <vt:lpstr>Calibri Light</vt:lpstr>
      <vt:lpstr>Cambria</vt:lpstr>
      <vt:lpstr>Wingdings</vt:lpstr>
      <vt:lpstr>Tema do Office</vt:lpstr>
      <vt:lpstr>MAT02201 – Métodos Estatísticos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106</cp:revision>
  <dcterms:created xsi:type="dcterms:W3CDTF">2020-10-25T10:14:05Z</dcterms:created>
  <dcterms:modified xsi:type="dcterms:W3CDTF">2026-01-21T21:00:55Z</dcterms:modified>
</cp:coreProperties>
</file>